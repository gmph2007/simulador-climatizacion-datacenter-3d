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inedu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3092092" cy="822960"/>
          </a:xfrm>
          <a:prstGeom prst="rect">
            <a:avLst/>
          </a:prstGeom>
        </p:spPr>
      </p:pic>
      <p:pic>
        <p:nvPicPr>
          <p:cNvPr id="4" name="Picture 3" descr="logo_herca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418641" cy="868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4389120" cy="365760"/>
          </a:xfrm>
          <a:prstGeom prst="roundRect">
            <a:avLst/>
          </a:prstGeom>
          <a:solidFill>
            <a:srgbClr val="0F1E3C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UNIDAD DIDÁCTICA: DISEÑO DE DATA CENTER (DDC)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SISTEMAS DE CLIMATIZACIÓN Y AIRE ACONDICIONADO EN DATA CENTERS</a:t>
            </a:r>
          </a:p>
          <a:p>
            <a:pPr>
              <a:spcBef>
                <a:spcPts val="1000"/>
              </a:spcBef>
              <a:defRPr sz="1600">
                <a:solidFill>
                  <a:srgbClr val="00D2FF"/>
                </a:solidFill>
              </a:defRPr>
            </a:pPr>
            <a:r>
              <a:t>Arquitectura de Precisión CRAC N+1, Confinamiento de Pasillos (CAC/HAC), Flujo CFD y Eficiencia PUE bajo Normativa ASHRAE TC 9.9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IESTP 'HERMANOS CÁRCAMO' - PAITA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Programa de Estudios: Arquitectura de Plataformas y Servicios de Tecnologías de la Información</a:t>
            </a:r>
          </a:p>
          <a:p>
            <a:pPr>
              <a:spcBef>
                <a:spcPts val="600"/>
              </a:spcBef>
              <a:defRPr sz="1300" b="1">
                <a:solidFill>
                  <a:srgbClr val="FBBF24"/>
                </a:solidFill>
              </a:defRPr>
            </a:pPr>
            <a:r>
              <a:t>Estudiante: Gerson Misael Pintado Huaman  |  Docente: Ing. Javier Eduardo Jaramillo Atoche</a:t>
            </a:r>
          </a:p>
          <a:p>
            <a:pPr>
              <a:spcBef>
                <a:spcPts val="300"/>
              </a:spcBef>
              <a:defRPr sz="1100">
                <a:solidFill>
                  <a:srgbClr val="00D2FF"/>
                </a:solidFill>
              </a:defRPr>
            </a:pPr>
            <a:r>
              <a:t>Semestre Académico: 2026-II  •  Paita, Piura - Perú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Fundamentos y Retos Térmicos en Centros de Datos Modernos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🔥 Densidad Térmica Extrema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Los servidores modernos (1U/2U Blade) concentran entre 5 kW y más de 15 kW por rack.</a:t>
            </a:r>
            <a:br/>
            <a:br/>
            <a:r>
              <a:t>El 100% de la energía eléctrica consumida por CPUs, GPUs y fuentes conmutadas se transforma íntegramente en calor sensible que debe evacuarse sin demora.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⚠️ Riesgos de Inactividad (Downtime)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Temperaturas superiores a 30°C en la admisión de los servidores provocan:</a:t>
            </a:r>
            <a:br/>
            <a:r>
              <a:t>• Throttling térmico (reducción de frecuencia y rendimiento del 40%).</a:t>
            </a:r>
            <a:br/>
            <a:r>
              <a:t>• Degradación acelerada de semiconductores.</a:t>
            </a:r>
            <a:br/>
            <a:r>
              <a:t>• Caída no programada de servicios críticos con pérdidas millonarias.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💰 Impacto Energético y OPEX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El sistema de climatización representa típicamente entre el 35% y el 45% del consumo eléctrico total del Data Center.</a:t>
            </a:r>
            <a:br/>
            <a:br/>
            <a:r>
              <a:t>Una mala gestión del flujo de aire duplica la factura energética y destruye el retorno de inversión (ROI) de la infraestructura.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Comparativa Crítica: Aire de Precisión (CRAC) vs. Confort Comercial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77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00830"/>
                <a:gridCol w="390083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PARÁMETRO TÉCNICO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AIRE DE PRECISIÓN (CRAC / CRAH)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AIRE ACONDICIONADO DE CONFORT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Factor de Calor Sensible (SHR)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D2FF"/>
                          </a:solidFill>
                        </a:defRPr>
                      </a:pPr>
                      <a:r>
                        <a:t>SHR = 0.90 a 0.98</a:t>
                      </a:r>
                      <a:br/>
                      <a:r>
                        <a:t>Disipa casi exclusivamente calor de equipos electrónicos.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SHR = 0.65 a 0.70</a:t>
                      </a:r>
                      <a:br/>
                      <a:r>
                        <a:t>Desperdicia 35% de energía en condensar vapor de personas.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Caudal de Aire (CFM) por TR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D2FF"/>
                          </a:solidFill>
                        </a:defRPr>
                      </a:pPr>
                      <a:r>
                        <a:t>500 a 600 CFM por tonelada</a:t>
                      </a:r>
                      <a:br/>
                      <a:r>
                        <a:t>Gran volumen de aire continuo para enfriar los microprocesadores.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350 a 400 CFM por tonelada</a:t>
                      </a:r>
                      <a:br/>
                      <a:r>
                        <a:t>Bajo caudal; genera puntos calientes (hotspots) letales.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Régimen de Operatividad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D2FF"/>
                          </a:solidFill>
                        </a:defRPr>
                      </a:pPr>
                      <a:r>
                        <a:t>24 horas / 365 días al año</a:t>
                      </a:r>
                      <a:br/>
                      <a:r>
                        <a:t>Compresores y ventiladores de uso continuo industrial.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8 a 10 horas al día</a:t>
                      </a:r>
                      <a:br/>
                      <a:r>
                        <a:t>Colapsa y se quema si opera en régimen continuo ininterrumpido.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Control de Humedad Relativa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D2FF"/>
                          </a:solidFill>
                        </a:defRPr>
                      </a:pPr>
                      <a:r>
                        <a:t>Control Activo (Humidificador y Deshumidificador)</a:t>
                      </a:r>
                      <a:br/>
                      <a:r>
                        <a:t>Mantiene 40% - 60% HR estricto para evitar descargas ESD.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Sin control de humedad</a:t>
                      </a:r>
                      <a:br/>
                      <a:r>
                        <a:t>Seca el aire en exceso (estática) o condensa agua en placas.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Filtración de Aire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D2FF"/>
                          </a:solidFill>
                        </a:defRPr>
                      </a:pPr>
                      <a:r>
                        <a:t>Filtros de Alta Eficiencia MERV 13 / F7</a:t>
                      </a:r>
                      <a:br/>
                      <a:r>
                        <a:t>Retiene partículas finas y polvo en suspensión.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Filtro básico de espuma sintética lavable</a:t>
                      </a:r>
                      <a:br/>
                      <a:r>
                        <a:t>Permite paso de partículas que aterran circuitos.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E047"/>
                </a:solidFill>
              </a:defRPr>
            </a:pPr>
            <a:r>
              <a:t>⚠️ ADVERTENCIA TÉCNICA: Usar equipos split de confort en un centro de datos en Paita viola las garantías de los fabricantes de servidores y provoca fallos por humedad y polvo salino.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Envolvente Térmica y Normativa ASHRAE TC 9.9 (Clase A1)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🌡️ Temperatura de Admisión</a:t>
            </a:r>
          </a:p>
          <a:p>
            <a:pPr>
              <a:spcBef>
                <a:spcPts val="300"/>
              </a:spcBef>
              <a:defRPr sz="1800" b="1">
                <a:solidFill>
                  <a:srgbClr val="00D2FF"/>
                </a:solidFill>
              </a:defRPr>
            </a:pPr>
            <a:r>
              <a:t>18.0°C a 27.0°C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Rango recomendado en la entrada frontal de los racks.</a:t>
            </a:r>
            <a:br/>
            <a:r>
              <a:t>Permitido: 15.0°C a 32.0°C.</a:t>
            </a:r>
            <a:br/>
            <a:r>
              <a:t>Evita el calentamiento de transistores y ahorra energía frente al antiguo mito de congelar la sala a 16°C.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💧 Humedad Relativa (HR)</a:t>
            </a:r>
          </a:p>
          <a:p>
            <a:pPr>
              <a:spcBef>
                <a:spcPts val="300"/>
              </a:spcBef>
              <a:defRPr sz="1800" b="1">
                <a:solidFill>
                  <a:srgbClr val="0284C7"/>
                </a:solidFill>
              </a:defRPr>
            </a:pPr>
            <a:r>
              <a:t>40% a 60% HR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Punto de rocío: 5.5°C a 15.0°C.</a:t>
            </a:r>
            <a:br/>
            <a:r>
              <a:t>• &lt; 40% HR: Riesgo crítico de descargas electrostáticas (ESD).</a:t>
            </a:r>
            <a:br/>
            <a:r>
              <a:t>• &gt; 60% HR: Riesgo de condensación líquida y corrosión rápida.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⏱️ Tasa de Cambio Térmico</a:t>
            </a:r>
          </a:p>
          <a:p>
            <a:pPr>
              <a:spcBef>
                <a:spcPts val="300"/>
              </a:spcBef>
              <a:defRPr sz="1800" b="1">
                <a:solidFill>
                  <a:srgbClr val="F59E0B"/>
                </a:solidFill>
              </a:defRPr>
            </a:pPr>
            <a:r>
              <a:t>&lt; 5°C / hora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Máxima variación admisible de temperatura.</a:t>
            </a:r>
            <a:br/>
            <a:r>
              <a:t>Las variaciones violentas provocan dilatación y contracción térmica en pistas de placas base y desoldadura de microchips BGA.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Grado de Filtración</a:t>
            </a:r>
          </a:p>
          <a:p>
            <a:pPr>
              <a:spcBef>
                <a:spcPts val="300"/>
              </a:spcBef>
              <a:defRPr sz="1800" b="1">
                <a:solidFill>
                  <a:srgbClr val="10B981"/>
                </a:solidFill>
              </a:defRPr>
            </a:pPr>
            <a:r>
              <a:t>ISO 14644-1 / MERV 13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Purificación de aire requerida.</a:t>
            </a:r>
            <a:br/>
            <a:r>
              <a:t>Filtra partículas PM2.5 y aerosoles marinos indispensables en zonas costeras como Paita para evitar corrosión química.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Topología de Pasillos Fríos y Calientes (Hot / Cold Aisle)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pic>
        <p:nvPicPr>
          <p:cNvPr id="8" name="Picture 7" descr="diagrama_pasillo_frio_ca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3440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12280" y="1645920"/>
            <a:ext cx="4645152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Dinámica del Ciclo Termodinámico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1. Inyección de Aire Frío (18°C): La unidad CRAC sopla aire presurizado por el plenum bajo piso técnico hacia las baldosas perforadas del Pasillo Frío.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2. Absorción Frontal por Servidores: Los ventiladores internos de los servidores succionan el aire fresco por el frontal de los racks, extrayendo el calor de procesadores y fuentes.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3. Expulsión a Pasillo Caliente (32°C): El aire caliente sale por la parte posterior de los racks formando el pasillo caliente sin mezclarse con la zona fría.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4. Retorno por Ducto Superior: El aire caliente asciende naturalmente hacia las tomas del ducto de retorno en el cielo raso hacia el evaporador del CRAC.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🎯 Beneficio Clave: Elimina totalmente el cortocircuito térmico, reduce el consumo de los compresores y protege el equipamiento.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Estrategias de Confinamiento: Pasillo Frío (CAC) vs. Caliente (HAC)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🧊 Confinamiento de Pasillo Frío (CAC)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Principio: Se encierra el pasillo de suministro con techos y puertas estancas de policarbonato.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Ventaja Económica: Fácil de implementar en centros de datos existentes (Retrofit).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Pulmón Térmico: Todo el resto de la sala queda a temperatura de retorno moderada.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Seguridad Contra Incendios: Techos con fusibles térmicos piroeléctricos que se abren ante rociadores NFPA 75.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Aplicación Recomendada: Ideal para centros de datos empresariales con piso técnico elevado.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🔥 Confinamiento de Pasillo Caliente (HAC)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Principio: Se aíslan los pasillos posteriores de escape o se instalan chimeneas directas a ductos de retorno.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Eficiencia Frigorífica: El CRAC recibe aire caliente concentrado (&gt; 32°C), elevando el rendimiento del ciclo COP.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Sala Fría Integral: Toda la sala del Data Center se convierte en un gran plenum de aire frío.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Densidad Muy Alta: Excelente para entornos de más de 12 kW por rack.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Desventaja: Requiere ductería a medida y resulta incómodo para técnicos al acceder a la parte trasera de los racks.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Infraestructura de Piso Técnico Elevado y Distribución Aerodinámica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📐 Altura Libre de Pedestal</a:t>
            </a:r>
          </a:p>
          <a:p>
            <a:pPr>
              <a:spcBef>
                <a:spcPts val="300"/>
              </a:spcBef>
              <a:defRPr sz="1800" b="1">
                <a:solidFill>
                  <a:srgbClr val="00D2FF"/>
                </a:solidFill>
              </a:defRPr>
            </a:pPr>
            <a:r>
              <a:t>40 a 60 cm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Altura óptima recomendada bajo el piso técnico.</a:t>
            </a:r>
            <a:br/>
            <a:r>
              <a:t>Permite velocidad de flujo laminar adecuada (&lt; 2 m/s) sin generar excesiva pérdida de carga por fricción.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🔳 Baldosas Perforadas</a:t>
            </a:r>
          </a:p>
          <a:p>
            <a:pPr>
              <a:spcBef>
                <a:spcPts val="300"/>
              </a:spcBef>
              <a:defRPr sz="1800" b="1">
                <a:solidFill>
                  <a:srgbClr val="0284C7"/>
                </a:solidFill>
              </a:defRPr>
            </a:pPr>
            <a:r>
              <a:t>25% a 40% Área Libre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Caudal de suministro de 500 a 600 CFM por baldosa.</a:t>
            </a:r>
            <a:br/>
            <a:r>
              <a:t>Deben ubicarse exclusivamente frente a los servidores en el pasillo frío; nunca en pasillos calientes ni áreas vacías.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Presurización Positiva</a:t>
            </a:r>
          </a:p>
          <a:p>
            <a:pPr>
              <a:spcBef>
                <a:spcPts val="300"/>
              </a:spcBef>
              <a:defRPr sz="1800" b="1">
                <a:solidFill>
                  <a:srgbClr val="10B981"/>
                </a:solidFill>
              </a:defRPr>
            </a:pPr>
            <a:r>
              <a:t>+0.05 pulg w.g. (12 Pa)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Presión diferencial requerida en el pleno.</a:t>
            </a:r>
            <a:br/>
            <a:r>
              <a:t>Garantiza que el aire frío emerja de forma uniforme a toda la altura de los racks (1U a 42U) evitando puntos calientes en la cima.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🧹 Gestión de Cableado</a:t>
            </a:r>
          </a:p>
          <a:p>
            <a:pPr>
              <a:spcBef>
                <a:spcPts val="300"/>
              </a:spcBef>
              <a:defRPr sz="1800" b="1">
                <a:solidFill>
                  <a:srgbClr val="F59E0B"/>
                </a:solidFill>
              </a:defRPr>
            </a:pPr>
            <a:r>
              <a:t>Cero Obstrucciones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Las bandejas de fibra óptica y cableado estructurado deben suspenderse por techo o rutearse por los bordes sin taponar la sección transversal del pleno.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Continuidad Operativa: Esquema de Redundancia CRAC N+1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📊 Dimensionamiento Térmico Real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Carga TI Total: 6 racks × 7.5 kW/rack = 45 kW sensibles.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Pérdidas en UPS y Alumbrado: 5 kW adicionales.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Carga Térmica Total de Diseño: 50 kW (14.2 TR / 170,000 BTU/h).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Configuración Elegida N+1: 2 unidades CRAC de 50 kW cada una.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  - 1 Unidad Activa soportando el 100% de la carga.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  - 1 Unidad Redundante (Standby activo) lista para entrar.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Rotación Cíclica Semanal: Alternancia automática por BMS para desgaste uniforme de compresores.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🛡️ Criterios de Resiliencia Rated-3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Mantenimiento Concurrente: Permite apagar cualquier CRAC para mantenimiento preventivo sin elevar la temperatura de la sala.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Doble Acometida Eléctrica (A+B): Cada CRAC cuenta con alimentación desde tableros de transferencia automática (ATS) independientes.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Rearranque Rápido (Fast Restart): Los variadores EC arrancan en menos de 40 segundos tras una conmutación de generador.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Monitoreo SNMP / Modbus: Telemetría en tiempo real de temperatura, humedad y presión conectada al sistema de alarmas.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Eficiencia Energética: Cálculo del PUE y Free Cooling en Paita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28655" cy="1097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MÉTRICA PUE (Power Usage Effectiveness) = (Energía Total de la Instalación) / (Energía Consumida por Equipos TI)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Un PUE cercano a 1.0 representa la perfección teórica. En la industria, un PUE &lt; 1.4 es de excelencia.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342900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Escenario 1: Tradicional sin Confinar</a:t>
            </a:r>
          </a:p>
          <a:p>
            <a:pPr>
              <a:spcBef>
                <a:spcPts val="600"/>
              </a:spcBef>
              <a:defRPr sz="1600" b="1">
                <a:solidFill>
                  <a:srgbClr val="EF4444"/>
                </a:solidFill>
              </a:defRPr>
            </a:pPr>
            <a:r>
              <a:t>PUE = 2.10 (Pésimo)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Mezcla de aire frío y caliente. Por cada 1 kW gastado en servidores, se gasta 1.1 kW adicional en climatización ineficiente.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71800"/>
            <a:ext cx="342900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Escenario 2: CRAC N+1 + Pasillo Frío</a:t>
            </a:r>
          </a:p>
          <a:p>
            <a:pPr>
              <a:spcBef>
                <a:spcPts val="600"/>
              </a:spcBef>
              <a:defRPr sz="1600" b="1">
                <a:solidFill>
                  <a:srgbClr val="00D2FF"/>
                </a:solidFill>
              </a:defRPr>
            </a:pPr>
            <a:r>
              <a:t>PUE = 1.35 (Óptimo)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Confinamiento hermético. Ventiladores EC modulantes y compresores trabajando con delta-T óptimo. Ahorro del 36%.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71800"/>
            <a:ext cx="342900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Escenario 3: Free Cooling Nocturno Paita</a:t>
            </a:r>
          </a:p>
          <a:p>
            <a:pPr>
              <a:spcBef>
                <a:spcPts val="600"/>
              </a:spcBef>
              <a:defRPr sz="1600" b="1">
                <a:solidFill>
                  <a:srgbClr val="10B981"/>
                </a:solidFill>
              </a:defRPr>
            </a:pPr>
            <a:r>
              <a:t>PUE = 1.18 (Excelente)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Aprovechamiento del aire fresco nocturno de la brisa marina (19°C - 21°C) mediante intercambiador indirecto sin encender compresores.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Adaptación Técnica al Entorno Costero de Paita, Piura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🌊 Salinidad Marina y Corrosión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Paita posee una atmósfera marina C5-M de alta corrosividad por aerosoles salinos del océano Pacífico.</a:t>
            </a:r>
            <a:br/>
            <a:br/>
            <a:r>
              <a:t>Solución de Diseño:</a:t>
            </a:r>
            <a:br/>
            <a:r>
              <a:t>• Condensadores exteriores con serpentines recubiertos en resina epóxica fenólica (Blygold / E-coating).</a:t>
            </a:r>
            <a:br/>
            <a:r>
              <a:t>• Tornillería de acero inoxidable AISI 316 en gabinetes externos.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🌪️ Polvo Eólico y Arenisca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Los vientos constantes del desierto costero levantan micropartículas de arena que saturan filtros y destruyen rodamientos.</a:t>
            </a:r>
            <a:br/>
            <a:br/>
            <a:r>
              <a:t>Solución de Diseño:</a:t>
            </a:r>
            <a:br/>
            <a:r>
              <a:t>• Sistema de prefiltración ciclónica exterior.</a:t>
            </a:r>
            <a:br/>
            <a:r>
              <a:t>• Etapas de filtración en cascada G4 + MERV 13 con sensor de presión diferencial para aviso de reemplazo.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290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☀️ Alta Radiación y Verano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Temperaturas ambiente de hasta 34°C en verano con alta insolación en cubiertas.</a:t>
            </a:r>
            <a:br/>
            <a:br/>
            <a:r>
              <a:t>Solución de Diseño:</a:t>
            </a:r>
            <a:br/>
            <a:r>
              <a:t>• Factor de sobredimensionamiento de condensadores exteriores al 120% del valor nominal.</a:t>
            </a:r>
            <a:br/>
            <a:r>
              <a:t>• Aislamiento térmico de poliuretano expandido en muros y cubierta del Data Center.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Mapa Conceptual Integral del Sistema de Climatización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pic>
        <p:nvPicPr>
          <p:cNvPr id="8" name="Picture 7" descr="mapa_conceptual_climat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728655" cy="67948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DISEÑO DE DATA CENTER • SISTEMA DE CLIMATIZACIÓN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Simulador 3D Web Desarrollado y Conclusiones Finales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IESTP 'Hermanos Cárcamo' • Paita | Estudiante: Gerson Misael Pintado Huaman | Docente: Ing. Javier Eduardo Jaramillo Atoche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💻 Simulador 3D Interactivo (Three.js)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Visualización Isométrica con Corte Arquitectónico (Cutaway View) tal como el modelo docente.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Telemetría Dinámica en Tiempo Real: Inyección a 18.0°C, Retorno a 31.5°C, Sala a 24.2°C y Caudal a 1.8 m/s.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Modos de Inspección: Clic en cualquier rack o CRAC para ver especificaciones de hardware y caudal.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Simulación de Escenarios: Falla de CRAC 01 con alarma, Bypass por puerta abierta y Free Cooling.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Cámara Térmica FLIR y Rayos X integrados en WebGL.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Archivo autónomo ejecutable: Funciona 100% offline en cualquier navegador moderno sin necesidad de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2578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🎓 Conclusiones de Ingeniería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1. Prioridad del Confinamiento: Confinar el pasillo frío es la medida de mayor retorno de inversión (ROI), reduciendo el PUE de 2.10 a 1.35 sin alterar los servidores.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2. Imposibilidad de Split de Confort: Los equipos de confort son incompatibles con servidores por su bajo SHR y carencia de control de humedad, provocando fallas irreversibles.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3. Resiliencia N+1 Obligatoria: La arquitectura Rated-3 exige mantenimiento concurrente sin apagar la carga TI, lograda mediante unidades CRAC redundantes.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4. Especificación para Paita: El recubrimiento anticorrosivo epóxico y el filtrado MERV 13 son mandatorios frente a la salinidad y los vientos costeros de Paita.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¡Muchas Gracias! Presentado por: Gerson Misael Pintado Huaman</a:t>
            </a:r>
            <a:br/>
            <a:r>
              <a:t>Docente: Ing. Javier Eduardo Jaramillo Atoche • IESTP Hermanos Cárcamo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